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93" r:id="rId3"/>
    <p:sldId id="277" r:id="rId4"/>
    <p:sldId id="294" r:id="rId5"/>
    <p:sldId id="267" r:id="rId6"/>
    <p:sldId id="268" r:id="rId7"/>
  </p:sldIdLst>
  <p:sldSz cx="14630400" cy="8229600"/>
  <p:notesSz cx="8229600" cy="14630400"/>
  <p:embeddedFontLst>
    <p:embeddedFont>
      <p:font typeface="Heebo Light" pitchFamily="2" charset="-79"/>
      <p:regular r:id=""/>
    </p:embeddedFont>
    <p:embeddedFont>
      <p:font typeface="Montserrat" pitchFamily="2" charset="77"/>
      <p:regular r:id="rId9"/>
      <p:bold r:id="rId10"/>
      <p:italic r:id="rId11"/>
      <p:boldItalic r:id="rId12"/>
    </p:embeddedFont>
  </p:embeddedFontLst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13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94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796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44147-D41D-E1B7-4F95-EE4C0FF6E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3C34A6-2372-C1AE-06F1-488A883B1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9FB5E-0AD5-B2B1-816C-CA1BB43B0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2D96E-CA3B-D52D-D098-341F83363C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31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8FAF3-348D-103C-1A13-8F534F3D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16E75-8105-F291-3D19-72B0C5C27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56538-A6CB-7DC6-54F3-596ED9C99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2A5A4-8868-4162-03CA-59B937C3FB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80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rushodev/devlights-airway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dbdiagram.io/d/aerolineas-6939c3a4e877c6307456e4d7" TargetMode="External"/><Relationship Id="rId4" Type="http://schemas.openxmlformats.org/officeDocument/2006/relationships/hyperlink" Target="https://devflights-airways.streamlit.app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321" y="3082627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DevFlights Airways</a:t>
            </a:r>
            <a:endParaRPr lang="en-US" sz="6150" b="1" dirty="0"/>
          </a:p>
        </p:txBody>
      </p:sp>
      <p:sp>
        <p:nvSpPr>
          <p:cNvPr id="4" name="Text 1"/>
          <p:cNvSpPr/>
          <p:nvPr/>
        </p:nvSpPr>
        <p:spPr>
          <a:xfrm>
            <a:off x="1219817" y="1683614"/>
            <a:ext cx="748474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Proyecto Final Bootcamp 4.0</a:t>
            </a:r>
          </a:p>
        </p:txBody>
      </p:sp>
      <p:sp>
        <p:nvSpPr>
          <p:cNvPr id="5" name="Text 2"/>
          <p:cNvSpPr/>
          <p:nvPr/>
        </p:nvSpPr>
        <p:spPr>
          <a:xfrm>
            <a:off x="344592" y="6187161"/>
            <a:ext cx="4102147" cy="1271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Integrantes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:</a:t>
            </a:r>
          </a:p>
          <a:p>
            <a:pPr marL="285750" indent="-285750" algn="l">
              <a:lnSpc>
                <a:spcPts val="2850"/>
              </a:lnSpc>
              <a:buFontTx/>
              <a:buChar char="-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Brenda María Miranda Martelotte</a:t>
            </a:r>
          </a:p>
          <a:p>
            <a:pPr marL="285750" indent="-285750" algn="l">
              <a:lnSpc>
                <a:spcPts val="2850"/>
              </a:lnSpc>
              <a:buFontTx/>
              <a:buChar char="-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Juan Ignacio Kruchowski</a:t>
            </a:r>
            <a:endParaRPr lang="en-US" sz="1750" dirty="0"/>
          </a:p>
          <a:p>
            <a:pPr marL="285750" indent="-285750" algn="l">
              <a:lnSpc>
                <a:spcPts val="2850"/>
              </a:lnSpc>
              <a:buFontTx/>
              <a:buChar char="-"/>
            </a:pPr>
            <a:endParaRPr lang="en-US" sz="17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B0413B5-ACD8-305B-5E70-8789D7D4C664}"/>
              </a:ext>
            </a:extLst>
          </p:cNvPr>
          <p:cNvSpPr/>
          <p:nvPr/>
        </p:nvSpPr>
        <p:spPr>
          <a:xfrm>
            <a:off x="1378384" y="4168756"/>
            <a:ext cx="48796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de Datos de una Aerolínea</a:t>
            </a:r>
            <a:endParaRPr lang="en-US" sz="28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A7ED7D2-210B-ABBA-4DC6-6DC4A5E7DEC5}"/>
              </a:ext>
            </a:extLst>
          </p:cNvPr>
          <p:cNvSpPr/>
          <p:nvPr/>
        </p:nvSpPr>
        <p:spPr>
          <a:xfrm>
            <a:off x="344592" y="7755002"/>
            <a:ext cx="1750450" cy="474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Diciembre</a:t>
            </a: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2025</a:t>
            </a:r>
            <a:endParaRPr lang="en-US" sz="1750" dirty="0">
              <a:solidFill>
                <a:srgbClr val="DCD7E5"/>
              </a:solidFill>
              <a:latin typeface="Heebo Light" pitchFamily="34" charset="0"/>
              <a:ea typeface="Heebo Light" pitchFamily="34" charset="-122"/>
              <a:cs typeface="Heebo Light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153E3-A18D-3C1D-2986-DC76A6A47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D021102-C127-DE13-DED7-DDD8CA79EDD7}"/>
              </a:ext>
            </a:extLst>
          </p:cNvPr>
          <p:cNvSpPr/>
          <p:nvPr/>
        </p:nvSpPr>
        <p:spPr>
          <a:xfrm>
            <a:off x="4649357" y="427641"/>
            <a:ext cx="4929682" cy="66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FLUJO DE DATOS</a:t>
            </a:r>
            <a:endParaRPr lang="en-US" sz="4150" b="1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323CFA0-7C9A-DEC4-4AF4-C09481A39194}"/>
              </a:ext>
            </a:extLst>
          </p:cNvPr>
          <p:cNvSpPr/>
          <p:nvPr/>
        </p:nvSpPr>
        <p:spPr>
          <a:xfrm>
            <a:off x="1116125" y="1923299"/>
            <a:ext cx="4929682" cy="4149006"/>
          </a:xfrm>
          <a:prstGeom prst="roundRect">
            <a:avLst>
              <a:gd name="adj" fmla="val 258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3426B6BB-6842-D414-D20B-73EC3C8FBB5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56820" y="2086879"/>
            <a:ext cx="636746" cy="636746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DCAC5146-1B2B-B24B-E98F-A3F984289F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431961" y="2262020"/>
            <a:ext cx="286464" cy="28646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7858546A-4ACF-0C96-FE90-0D337BE5D594}"/>
              </a:ext>
            </a:extLst>
          </p:cNvPr>
          <p:cNvSpPr/>
          <p:nvPr/>
        </p:nvSpPr>
        <p:spPr>
          <a:xfrm>
            <a:off x="2032676" y="2262020"/>
            <a:ext cx="1617729" cy="34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INGESTA</a:t>
            </a:r>
            <a:endParaRPr lang="en-US" sz="2050" b="1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BDD7BC1-2E0A-99FD-0AE1-6C1676391941}"/>
              </a:ext>
            </a:extLst>
          </p:cNvPr>
          <p:cNvSpPr/>
          <p:nvPr/>
        </p:nvSpPr>
        <p:spPr>
          <a:xfrm>
            <a:off x="1220439" y="2737193"/>
            <a:ext cx="4341604" cy="333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Origen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:</a:t>
            </a:r>
          </a:p>
          <a:p>
            <a:pPr marL="285750" indent="-285750">
              <a:lnSpc>
                <a:spcPts val="2650"/>
              </a:lnSpc>
              <a:buFontTx/>
              <a:buChar char="-"/>
            </a:pP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Datos </a:t>
            </a:r>
            <a:r>
              <a:rPr lang="en-US" sz="1650" b="1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sintéticos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: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fabricate.tonic.ai</a:t>
            </a:r>
            <a:endParaRPr lang="en-US" sz="1650" dirty="0">
              <a:solidFill>
                <a:srgbClr val="DCD7E5"/>
              </a:solidFill>
              <a:latin typeface="Heebo Light" pitchFamily="34" charset="0"/>
              <a:ea typeface="Heebo Light" pitchFamily="34" charset="-122"/>
              <a:cs typeface="Heebo Light" pitchFamily="34" charset="-120"/>
            </a:endParaRPr>
          </a:p>
          <a:p>
            <a:pPr marL="285750" indent="-285750">
              <a:lnSpc>
                <a:spcPts val="2650"/>
              </a:lnSpc>
              <a:buFontTx/>
              <a:buChar char="-"/>
            </a:pP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Docker - PostgreSQL + </a:t>
            </a:r>
            <a:r>
              <a:rPr lang="en-US" sz="1650" b="1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pgAdmin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:</a:t>
            </a:r>
          </a:p>
          <a:p>
            <a:pPr>
              <a:lnSpc>
                <a:spcPts val="2650"/>
              </a:lnSpc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	- </a:t>
            </a:r>
            <a:r>
              <a:rPr lang="en-US" sz="1650" u="sng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Tablas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: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aeropuertos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aviones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vuelos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asientos,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pasajeros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y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reservas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</a:p>
          <a:p>
            <a:pPr>
              <a:lnSpc>
                <a:spcPts val="2650"/>
              </a:lnSpc>
            </a:pP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Formato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: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datos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normalizados</a:t>
            </a:r>
            <a:endParaRPr lang="en-US" sz="1650" dirty="0">
              <a:solidFill>
                <a:srgbClr val="DCD7E5"/>
              </a:solidFill>
              <a:latin typeface="Heebo Light" pitchFamily="34" charset="0"/>
              <a:ea typeface="Heebo Light" pitchFamily="34" charset="-122"/>
              <a:cs typeface="Heebo Light" pitchFamily="34" charset="-120"/>
            </a:endParaRPr>
          </a:p>
          <a:p>
            <a:pPr>
              <a:lnSpc>
                <a:spcPts val="2650"/>
              </a:lnSpc>
            </a:pP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Modelo </a:t>
            </a:r>
            <a:r>
              <a:rPr lang="en-US" sz="1650" b="1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Entidad</a:t>
            </a: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650" b="1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Relación</a:t>
            </a:r>
            <a:endParaRPr lang="en-US" sz="1650" b="1" dirty="0">
              <a:solidFill>
                <a:srgbClr val="DCD7E5"/>
              </a:solidFill>
              <a:latin typeface="Heebo Light" pitchFamily="34" charset="0"/>
              <a:ea typeface="Heebo Light" pitchFamily="34" charset="-122"/>
              <a:cs typeface="Heebo Light" pitchFamily="34" charset="-120"/>
            </a:endParaRPr>
          </a:p>
          <a:p>
            <a:pPr>
              <a:lnSpc>
                <a:spcPts val="2650"/>
              </a:lnSpc>
            </a:pPr>
            <a:r>
              <a:rPr lang="es-AR" sz="1650" b="1" i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Datos operativos crudos simulando una aerolínea real</a:t>
            </a:r>
            <a:endParaRPr lang="en-US" sz="1650" b="1" i="1" dirty="0">
              <a:solidFill>
                <a:srgbClr val="DCD7E5"/>
              </a:solidFill>
              <a:latin typeface="Heebo Light" pitchFamily="34" charset="0"/>
              <a:cs typeface="Heebo Light" pitchFamily="34" charset="-12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119E0004-F4D0-86A6-9837-22C6C81B6518}"/>
              </a:ext>
            </a:extLst>
          </p:cNvPr>
          <p:cNvSpPr/>
          <p:nvPr/>
        </p:nvSpPr>
        <p:spPr>
          <a:xfrm>
            <a:off x="7734154" y="1490811"/>
            <a:ext cx="6364905" cy="5750248"/>
          </a:xfrm>
          <a:prstGeom prst="roundRect">
            <a:avLst>
              <a:gd name="adj" fmla="val 258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039519F-8AF8-E5A2-EA5D-7972434CFE32}"/>
              </a:ext>
            </a:extLst>
          </p:cNvPr>
          <p:cNvSpPr/>
          <p:nvPr/>
        </p:nvSpPr>
        <p:spPr>
          <a:xfrm>
            <a:off x="8799974" y="1806911"/>
            <a:ext cx="265342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PROCESAMIENTO / ETL</a:t>
            </a:r>
            <a:endParaRPr lang="en-US" sz="2050" b="1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65981C47-9F94-D915-A2DC-9F1DF0061940}"/>
              </a:ext>
            </a:extLst>
          </p:cNvPr>
          <p:cNvSpPr/>
          <p:nvPr/>
        </p:nvSpPr>
        <p:spPr>
          <a:xfrm>
            <a:off x="7976736" y="2533515"/>
            <a:ext cx="6122323" cy="5381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650"/>
              </a:lnSpc>
            </a:pPr>
            <a:r>
              <a:rPr lang="en-US" sz="1650" b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Tecnología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: </a:t>
            </a:r>
          </a:p>
          <a:p>
            <a:pPr marL="285750" indent="-285750" algn="l">
              <a:lnSpc>
                <a:spcPts val="2650"/>
              </a:lnSpc>
              <a:buFontTx/>
              <a:buChar char="-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SQL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en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PostgreSQL</a:t>
            </a:r>
          </a:p>
          <a:p>
            <a:pPr algn="l">
              <a:lnSpc>
                <a:spcPts val="2650"/>
              </a:lnSpc>
            </a:pPr>
            <a:r>
              <a:rPr lang="en-US" sz="1650" b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Etapas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: </a:t>
            </a:r>
          </a:p>
          <a:p>
            <a:pPr marL="285750" indent="-285750" algn="l">
              <a:lnSpc>
                <a:spcPts val="2650"/>
              </a:lnSpc>
              <a:buFontTx/>
              <a:buChar char="-"/>
            </a:pP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Extracción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y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limpieza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de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datos</a:t>
            </a:r>
            <a:endParaRPr lang="en-US" sz="1650" dirty="0">
              <a:solidFill>
                <a:srgbClr val="DCD7E5"/>
              </a:solidFill>
              <a:latin typeface="Heebo Light" pitchFamily="34" charset="0"/>
              <a:cs typeface="Heebo Light" pitchFamily="34" charset="-120"/>
            </a:endParaRPr>
          </a:p>
          <a:p>
            <a:pPr marL="285750" indent="-285750" algn="l">
              <a:lnSpc>
                <a:spcPts val="2650"/>
              </a:lnSpc>
              <a:buFontTx/>
              <a:buChar char="-"/>
            </a:pP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Transformación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y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desnormalizaciôn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de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tablas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operativas</a:t>
            </a:r>
            <a:endParaRPr lang="en-US" sz="1650" dirty="0">
              <a:solidFill>
                <a:srgbClr val="DCD7E5"/>
              </a:solidFill>
              <a:latin typeface="Heebo Light" pitchFamily="34" charset="0"/>
              <a:cs typeface="Heebo Light" pitchFamily="34" charset="-120"/>
            </a:endParaRPr>
          </a:p>
          <a:p>
            <a:pPr marL="285750" indent="-285750" algn="l">
              <a:lnSpc>
                <a:spcPts val="2650"/>
              </a:lnSpc>
              <a:buFontTx/>
              <a:buChar char="-"/>
            </a:pP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Agregación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de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métricas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clave</a:t>
            </a:r>
          </a:p>
          <a:p>
            <a:pPr algn="l">
              <a:lnSpc>
                <a:spcPts val="2650"/>
              </a:lnSpc>
            </a:pPr>
            <a:r>
              <a:rPr lang="en-US" sz="1650" b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Resultado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: </a:t>
            </a: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Data Warehouse:</a:t>
            </a:r>
          </a:p>
          <a:p>
            <a:pPr marL="285750" indent="-285750">
              <a:lnSpc>
                <a:spcPts val="2650"/>
              </a:lnSpc>
              <a:buFontTx/>
              <a:buChar char="-"/>
            </a:pP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Esquema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analytics</a:t>
            </a:r>
          </a:p>
          <a:p>
            <a:pPr marL="285750" indent="-285750" algn="l">
              <a:lnSpc>
                <a:spcPts val="2650"/>
              </a:lnSpc>
              <a:buFontTx/>
              <a:buChar char="-"/>
            </a:pP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Construcción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de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dimensiones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: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dim_tiempo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,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dim_ruta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,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dim_avion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,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dim_pasajero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.</a:t>
            </a:r>
          </a:p>
          <a:p>
            <a:pPr marL="285750" indent="-285750" algn="l">
              <a:lnSpc>
                <a:spcPts val="2650"/>
              </a:lnSpc>
              <a:buFontTx/>
              <a:buChar char="-"/>
            </a:pP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Construcción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tabla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de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hechos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: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fact_ventas</a:t>
            </a:r>
            <a:endParaRPr lang="en-US" sz="1650" dirty="0">
              <a:solidFill>
                <a:srgbClr val="DCD7E5"/>
              </a:solidFill>
              <a:latin typeface="Heebo Light" pitchFamily="34" charset="0"/>
              <a:cs typeface="Heebo Light" pitchFamily="34" charset="-120"/>
            </a:endParaRPr>
          </a:p>
          <a:p>
            <a:pPr algn="l">
              <a:lnSpc>
                <a:spcPts val="2650"/>
              </a:lnSpc>
            </a:pPr>
            <a:r>
              <a:rPr lang="en-US" sz="1650" b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Esquema</a:t>
            </a: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estrella</a:t>
            </a:r>
          </a:p>
          <a:p>
            <a:pPr algn="l">
              <a:lnSpc>
                <a:spcPts val="2650"/>
              </a:lnSpc>
            </a:pPr>
            <a:r>
              <a:rPr lang="es-AR" sz="1650" i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ETL lógico para pasar de modelo transaccional a analítico</a:t>
            </a:r>
            <a:endParaRPr lang="en-US" sz="1650" i="1" dirty="0">
              <a:solidFill>
                <a:srgbClr val="DCD7E5"/>
              </a:solidFill>
              <a:latin typeface="Heebo Light" pitchFamily="34" charset="0"/>
              <a:cs typeface="Heebo Light" pitchFamily="34" charset="-120"/>
            </a:endParaRPr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39B863F2-7C1B-AA83-B262-F7F5262B846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976736" y="1654392"/>
            <a:ext cx="636746" cy="636746"/>
          </a:xfrm>
          <a:prstGeom prst="rect">
            <a:avLst/>
          </a:prstGeom>
        </p:spPr>
      </p:pic>
      <p:pic>
        <p:nvPicPr>
          <p:cNvPr id="22" name="Image 4" descr="preencoded.png">
            <a:extLst>
              <a:ext uri="{FF2B5EF4-FFF2-40B4-BE49-F238E27FC236}">
                <a16:creationId xmlns:a16="http://schemas.microsoft.com/office/drawing/2014/main" id="{B68532C4-ED6F-84C5-0867-A52DEB2F8D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8151877" y="1829533"/>
            <a:ext cx="286464" cy="286464"/>
          </a:xfrm>
          <a:prstGeom prst="rect">
            <a:avLst/>
          </a:prstGeom>
        </p:spPr>
      </p:pic>
      <p:sp>
        <p:nvSpPr>
          <p:cNvPr id="23" name="Flecha derecha 22">
            <a:extLst>
              <a:ext uri="{FF2B5EF4-FFF2-40B4-BE49-F238E27FC236}">
                <a16:creationId xmlns:a16="http://schemas.microsoft.com/office/drawing/2014/main" id="{6CCB7FF2-0F41-4A02-8C9F-AC7E0CA8DA39}"/>
              </a:ext>
            </a:extLst>
          </p:cNvPr>
          <p:cNvSpPr/>
          <p:nvPr/>
        </p:nvSpPr>
        <p:spPr>
          <a:xfrm>
            <a:off x="6288389" y="3526110"/>
            <a:ext cx="1309816" cy="796576"/>
          </a:xfrm>
          <a:prstGeom prst="rightArrow">
            <a:avLst/>
          </a:prstGeom>
          <a:solidFill>
            <a:srgbClr val="3013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94258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CF5F7-C68A-4A5D-5EAB-5EF6B036B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EA4ACC5-2121-05D0-B16C-7499CB9638A1}"/>
              </a:ext>
            </a:extLst>
          </p:cNvPr>
          <p:cNvSpPr/>
          <p:nvPr/>
        </p:nvSpPr>
        <p:spPr>
          <a:xfrm>
            <a:off x="866804" y="593070"/>
            <a:ext cx="63585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80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OLTP: </a:t>
            </a:r>
            <a:r>
              <a:rPr lang="en-US" sz="2800" b="1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</a:t>
            </a:r>
            <a:r>
              <a:rPr lang="en-US" sz="280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800" b="1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Entidad</a:t>
            </a:r>
            <a:r>
              <a:rPr lang="en-US" sz="280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800" b="1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Relación</a:t>
            </a:r>
            <a:endParaRPr lang="en-US" sz="2800" b="1" dirty="0">
              <a:solidFill>
                <a:srgbClr val="F2F0F4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pic>
        <p:nvPicPr>
          <p:cNvPr id="2" name="image2.png">
            <a:extLst>
              <a:ext uri="{FF2B5EF4-FFF2-40B4-BE49-F238E27FC236}">
                <a16:creationId xmlns:a16="http://schemas.microsoft.com/office/drawing/2014/main" id="{C4D8CD39-47F7-0402-517A-D5310E6498D7}"/>
              </a:ext>
            </a:extLst>
          </p:cNvPr>
          <p:cNvPicPr/>
          <p:nvPr/>
        </p:nvPicPr>
        <p:blipFill>
          <a:blip/>
          <a:srcRect/>
          <a:stretch>
            <a:fillRect/>
          </a:stretch>
        </p:blipFill>
        <p:spPr>
          <a:xfrm>
            <a:off x="430958" y="1511217"/>
            <a:ext cx="7230231" cy="6038815"/>
          </a:xfrm>
          <a:prstGeom prst="rect">
            <a:avLst/>
          </a:prstGeom>
          <a:ln/>
        </p:spPr>
      </p:pic>
      <p:pic>
        <p:nvPicPr>
          <p:cNvPr id="4" name="image22.jpg">
            <a:extLst>
              <a:ext uri="{FF2B5EF4-FFF2-40B4-BE49-F238E27FC236}">
                <a16:creationId xmlns:a16="http://schemas.microsoft.com/office/drawing/2014/main" id="{ECE9C940-9654-20FF-C482-46B6CB2B3F6A}"/>
              </a:ext>
            </a:extLst>
          </p:cNvPr>
          <p:cNvPicPr/>
          <p:nvPr/>
        </p:nvPicPr>
        <p:blipFill>
          <a:blip/>
          <a:srcRect/>
          <a:stretch>
            <a:fillRect/>
          </a:stretch>
        </p:blipFill>
        <p:spPr>
          <a:xfrm>
            <a:off x="8130541" y="1511217"/>
            <a:ext cx="6265081" cy="6038815"/>
          </a:xfrm>
          <a:prstGeom prst="rect">
            <a:avLst/>
          </a:prstGeom>
          <a:ln/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E5F73EAB-0E4A-F44E-8A22-9EF6CDAEE496}"/>
              </a:ext>
            </a:extLst>
          </p:cNvPr>
          <p:cNvSpPr/>
          <p:nvPr/>
        </p:nvSpPr>
        <p:spPr>
          <a:xfrm>
            <a:off x="9309830" y="630086"/>
            <a:ext cx="49622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80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OLAP: </a:t>
            </a:r>
            <a:r>
              <a:rPr lang="en-US" sz="2800" b="1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</a:t>
            </a:r>
            <a:r>
              <a:rPr lang="en-US" sz="280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Estrella</a:t>
            </a:r>
          </a:p>
        </p:txBody>
      </p:sp>
    </p:spTree>
    <p:extLst>
      <p:ext uri="{BB962C8B-B14F-4D97-AF65-F5344CB8AC3E}">
        <p14:creationId xmlns:p14="http://schemas.microsoft.com/office/powerpoint/2010/main" val="3401548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D1AF-4F5D-16DA-7EC5-C8A143582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AFBADC17-0DC8-890F-2B6B-DF40F38C04BD}"/>
              </a:ext>
            </a:extLst>
          </p:cNvPr>
          <p:cNvSpPr/>
          <p:nvPr/>
        </p:nvSpPr>
        <p:spPr>
          <a:xfrm>
            <a:off x="4046656" y="2145761"/>
            <a:ext cx="6098242" cy="3958478"/>
          </a:xfrm>
          <a:prstGeom prst="roundRect">
            <a:avLst>
              <a:gd name="adj" fmla="val 258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8A8E1E7-A6E2-49AC-753D-5029E860BFC3}"/>
              </a:ext>
            </a:extLst>
          </p:cNvPr>
          <p:cNvSpPr/>
          <p:nvPr/>
        </p:nvSpPr>
        <p:spPr>
          <a:xfrm>
            <a:off x="4538667" y="770030"/>
            <a:ext cx="4929682" cy="66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FLUJO DE DATOS</a:t>
            </a:r>
            <a:endParaRPr lang="en-US" sz="4150" b="1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BEF9660-6E1A-8A61-CDF9-BFF405B0E764}"/>
              </a:ext>
            </a:extLst>
          </p:cNvPr>
          <p:cNvSpPr/>
          <p:nvPr/>
        </p:nvSpPr>
        <p:spPr>
          <a:xfrm>
            <a:off x="5030679" y="2422622"/>
            <a:ext cx="4659106" cy="449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ANALÍTICA Y VISUALIZACIÓN</a:t>
            </a:r>
            <a:endParaRPr lang="en-US" sz="2050" b="1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C9F9A4DC-027C-E941-18E8-498C7386EC38}"/>
              </a:ext>
            </a:extLst>
          </p:cNvPr>
          <p:cNvSpPr/>
          <p:nvPr/>
        </p:nvSpPr>
        <p:spPr>
          <a:xfrm>
            <a:off x="4266443" y="2907333"/>
            <a:ext cx="5765242" cy="413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650"/>
              </a:lnSpc>
            </a:pPr>
            <a:r>
              <a:rPr lang="en-US" sz="1650" b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Conexión</a:t>
            </a: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:</a:t>
            </a:r>
          </a:p>
          <a:p>
            <a:pPr marL="285750" indent="-285750" algn="l">
              <a:lnSpc>
                <a:spcPts val="2650"/>
              </a:lnSpc>
              <a:buFontTx/>
              <a:buChar char="-"/>
            </a:pP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Metabase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+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Plotly</a:t>
            </a:r>
            <a:endParaRPr lang="en-US" sz="1650" dirty="0">
              <a:solidFill>
                <a:srgbClr val="DCD7E5"/>
              </a:solidFill>
              <a:latin typeface="Heebo Light" pitchFamily="34" charset="0"/>
              <a:cs typeface="Heebo Light" pitchFamily="34" charset="-120"/>
            </a:endParaRPr>
          </a:p>
          <a:p>
            <a:pPr marL="285750" indent="-285750" algn="l">
              <a:lnSpc>
                <a:spcPts val="2650"/>
              </a:lnSpc>
              <a:buFontTx/>
              <a:buChar char="-"/>
            </a:pP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Streamlit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+ Python</a:t>
            </a:r>
          </a:p>
          <a:p>
            <a:pPr algn="l">
              <a:lnSpc>
                <a:spcPts val="2650"/>
              </a:lnSpc>
            </a:pP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Dashboard </a:t>
            </a:r>
            <a:r>
              <a:rPr lang="en-US" sz="1650" b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ejecutivo</a:t>
            </a: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e </a:t>
            </a:r>
            <a:r>
              <a:rPr lang="en-US" sz="1650" b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interactivo</a:t>
            </a: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:</a:t>
            </a:r>
          </a:p>
          <a:p>
            <a:pPr marL="285750" indent="-285750" algn="l">
              <a:lnSpc>
                <a:spcPts val="2650"/>
              </a:lnSpc>
              <a:buFontTx/>
              <a:buChar char="-"/>
            </a:pP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Métricas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y KPIs</a:t>
            </a:r>
          </a:p>
          <a:p>
            <a:pPr marL="285750" indent="-285750" algn="l">
              <a:lnSpc>
                <a:spcPts val="2650"/>
              </a:lnSpc>
              <a:buFontTx/>
              <a:buChar char="-"/>
            </a:pP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Análisis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de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rutas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,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ingresos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,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flota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,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comportamiento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en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tiempo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real</a:t>
            </a:r>
          </a:p>
          <a:p>
            <a:pPr algn="l">
              <a:lnSpc>
                <a:spcPts val="2650"/>
              </a:lnSpc>
            </a:pPr>
            <a:r>
              <a:rPr lang="en-US" sz="1650" b="1" i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Soporte</a:t>
            </a:r>
            <a:r>
              <a:rPr lang="en-US" sz="1650" b="1" i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1650" b="1" i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en</a:t>
            </a:r>
            <a:r>
              <a:rPr lang="en-US" sz="1650" b="1" i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la </a:t>
            </a:r>
            <a:r>
              <a:rPr lang="en-US" sz="1650" b="1" i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toma</a:t>
            </a:r>
            <a:r>
              <a:rPr lang="en-US" sz="1650" b="1" i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de </a:t>
            </a:r>
            <a:r>
              <a:rPr lang="en-US" sz="1650" b="1" i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decisiones</a:t>
            </a:r>
            <a:endParaRPr lang="en-US" sz="1650" b="1" i="1" dirty="0">
              <a:solidFill>
                <a:srgbClr val="DCD7E5"/>
              </a:solidFill>
              <a:latin typeface="Heebo Light" pitchFamily="34" charset="0"/>
              <a:cs typeface="Heebo Light" pitchFamily="34" charset="-120"/>
            </a:endParaRPr>
          </a:p>
        </p:txBody>
      </p:sp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2BA16E84-2D91-01EB-864E-C639D960417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20294" y="2234953"/>
            <a:ext cx="636746" cy="636746"/>
          </a:xfrm>
          <a:prstGeom prst="rect">
            <a:avLst/>
          </a:prstGeom>
        </p:spPr>
      </p:pic>
      <p:pic>
        <p:nvPicPr>
          <p:cNvPr id="15" name="Image 6" descr="preencoded.png">
            <a:extLst>
              <a:ext uri="{FF2B5EF4-FFF2-40B4-BE49-F238E27FC236}">
                <a16:creationId xmlns:a16="http://schemas.microsoft.com/office/drawing/2014/main" id="{C59442F7-BDFF-4809-B4A3-CDC23BCAC1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4395435" y="2410094"/>
            <a:ext cx="286464" cy="286464"/>
          </a:xfrm>
          <a:prstGeom prst="rect">
            <a:avLst/>
          </a:prstGeom>
        </p:spPr>
      </p:pic>
      <p:sp>
        <p:nvSpPr>
          <p:cNvPr id="16" name="Flecha derecha 15">
            <a:extLst>
              <a:ext uri="{FF2B5EF4-FFF2-40B4-BE49-F238E27FC236}">
                <a16:creationId xmlns:a16="http://schemas.microsoft.com/office/drawing/2014/main" id="{3F7F2FE2-8038-5F97-02CD-4B9E308A064D}"/>
              </a:ext>
            </a:extLst>
          </p:cNvPr>
          <p:cNvSpPr/>
          <p:nvPr/>
        </p:nvSpPr>
        <p:spPr>
          <a:xfrm>
            <a:off x="2297156" y="3624964"/>
            <a:ext cx="1309816" cy="796576"/>
          </a:xfrm>
          <a:prstGeom prst="rightArrow">
            <a:avLst/>
          </a:prstGeom>
          <a:solidFill>
            <a:srgbClr val="3013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6832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84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 al Proyecto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40881"/>
            <a:ext cx="4196358" cy="2910245"/>
          </a:xfrm>
          <a:prstGeom prst="roundRect">
            <a:avLst>
              <a:gd name="adj" fmla="val 3274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3271361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31136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2721888" y="3437573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Repositorio(GitHub)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4669036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750" u="sng" dirty="0">
                <a:solidFill>
                  <a:srgbClr val="8252E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https://github.com/krushodev/devlights-airways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240881"/>
            <a:ext cx="4196358" cy="2910245"/>
          </a:xfrm>
          <a:prstGeom prst="roundRect">
            <a:avLst>
              <a:gd name="adj" fmla="val 3274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47442" y="3271361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31136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7145060" y="3437573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4256" y="4178617"/>
            <a:ext cx="31289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(Streamlit)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74256" y="466903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5474256" y="516802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8252E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https://devflights-airways.streamlit.app/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240881"/>
            <a:ext cx="4196358" cy="2910245"/>
          </a:xfrm>
          <a:prstGeom prst="roundRect">
            <a:avLst>
              <a:gd name="adj" fmla="val 3274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70613" y="3271361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31136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1568232" y="3437573"/>
            <a:ext cx="340162" cy="3401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97427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</a:t>
            </a: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ER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97427" y="466903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9897427" y="516802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8252E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https://dbdiagram.io/d/aerolineas-6939c3a4e877c6307456e4d7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479905" y="25829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¡Muchas Gracias!</a:t>
            </a:r>
            <a:endParaRPr lang="en-US" sz="4450" dirty="0"/>
          </a:p>
        </p:txBody>
      </p:sp>
      <p:sp>
        <p:nvSpPr>
          <p:cNvPr id="5" name="AutoShape 2" descr="Aplausos Aplaudir Clip Art PNG ,dibujos Gente, Dibujos Animados, Palma PNG  y PSD para Descargar Gratis | Pngtree">
            <a:extLst>
              <a:ext uri="{FF2B5EF4-FFF2-40B4-BE49-F238E27FC236}">
                <a16:creationId xmlns:a16="http://schemas.microsoft.com/office/drawing/2014/main" id="{BF5AA16F-FF21-FAED-7D5A-FD43FB0EA9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4340" name="Picture 4" descr="Aplausos - Iconos gratis de manos y gestos">
            <a:extLst>
              <a:ext uri="{FF2B5EF4-FFF2-40B4-BE49-F238E27FC236}">
                <a16:creationId xmlns:a16="http://schemas.microsoft.com/office/drawing/2014/main" id="{83F75A8E-15E9-0C74-BA17-1EE33F91B0A7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082" y="3656571"/>
            <a:ext cx="1704236" cy="170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20.jpg">
            <a:extLst>
              <a:ext uri="{FF2B5EF4-FFF2-40B4-BE49-F238E27FC236}">
                <a16:creationId xmlns:a16="http://schemas.microsoft.com/office/drawing/2014/main" id="{2DC0DC49-9874-4DCB-5776-54F2F27D93F8}"/>
              </a:ext>
            </a:extLst>
          </p:cNvPr>
          <p:cNvPicPr/>
          <p:nvPr/>
        </p:nvPicPr>
        <p:blipFill>
          <a:blip/>
          <a:srcRect l="19101" t="12893" r="19101" b="19570"/>
          <a:stretch>
            <a:fillRect/>
          </a:stretch>
        </p:blipFill>
        <p:spPr>
          <a:xfrm>
            <a:off x="13977646" y="7535832"/>
            <a:ext cx="478790" cy="523240"/>
          </a:xfrm>
          <a:prstGeom prst="rect">
            <a:avLst/>
          </a:prstGeom>
          <a:ln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248</Words>
  <Application>Microsoft Macintosh PowerPoint</Application>
  <PresentationFormat>Personalizado</PresentationFormat>
  <Paragraphs>53</Paragraphs>
  <Slides>6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Montserrat</vt:lpstr>
      <vt:lpstr>Heebo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Brenda María MIRANDA MARTELOTTE</cp:lastModifiedBy>
  <cp:revision>53</cp:revision>
  <dcterms:created xsi:type="dcterms:W3CDTF">2025-12-17T21:59:35Z</dcterms:created>
  <dcterms:modified xsi:type="dcterms:W3CDTF">2025-12-20T01:32:27Z</dcterms:modified>
</cp:coreProperties>
</file>